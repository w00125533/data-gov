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016000" y="504508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如原</a:t>
            </a:r>
            <a:r>
              <a:rPr lang="en-US" altLang="zh-CN" sz="1600"/>
              <a:t>L1</a:t>
            </a:r>
            <a:r>
              <a:rPr lang="zh-CN" altLang="en-US" sz="1600"/>
              <a:t>路径：</a:t>
            </a:r>
            <a:endParaRPr lang="zh-CN" altLang="en-US" sz="1600"/>
          </a:p>
          <a:p>
            <a:r>
              <a:rPr lang="en-US" altLang="zh-CN" sz="1600"/>
              <a:t>/data/userinfo/2026-12-15-11/</a:t>
            </a:r>
            <a:endParaRPr lang="en-US" altLang="zh-CN" sz="1600"/>
          </a:p>
          <a:p>
            <a:endParaRPr lang="zh-CN" altLang="en-US" sz="1600"/>
          </a:p>
          <a:p>
            <a:endParaRPr lang="zh-CN" altLang="en-US" sz="1600"/>
          </a:p>
          <a:p>
            <a:r>
              <a:rPr lang="zh-CN" altLang="en-US" sz="1600"/>
              <a:t>新增</a:t>
            </a:r>
            <a:r>
              <a:rPr lang="en-US" altLang="zh-CN" sz="1600"/>
              <a:t>DC</a:t>
            </a:r>
            <a:r>
              <a:rPr lang="zh-CN" altLang="en-US" sz="1600"/>
              <a:t>切片写到独立物理路径</a:t>
            </a:r>
            <a:endParaRPr lang="zh-CN" altLang="en-US" sz="1600"/>
          </a:p>
          <a:p>
            <a:r>
              <a:rPr lang="en-US" altLang="zh-CN" sz="1600"/>
              <a:t>/data/userinfo_slice/cn/2026-12-15-11/</a:t>
            </a:r>
            <a:endParaRPr lang="en-US" altLang="zh-CN" sz="1600"/>
          </a:p>
          <a:p>
            <a:r>
              <a:rPr lang="en-US" altLang="zh-CN" sz="1600"/>
              <a:t>/data/userinfo_slice/us/2026-12-15-11/</a:t>
            </a:r>
            <a:endParaRPr lang="en-US" altLang="zh-CN" sz="1600"/>
          </a:p>
          <a:p>
            <a:r>
              <a:rPr lang="en-US" altLang="zh-CN" sz="1600"/>
              <a:t>/data/userinfo_slice/eu/2026-12-15-11/</a:t>
            </a:r>
            <a:endParaRPr lang="en-US" altLang="zh-CN" sz="1600"/>
          </a:p>
        </p:txBody>
      </p:sp>
      <p:sp>
        <p:nvSpPr>
          <p:cNvPr id="6" name="文本框 5"/>
          <p:cNvSpPr txBox="1"/>
          <p:nvPr/>
        </p:nvSpPr>
        <p:spPr>
          <a:xfrm>
            <a:off x="1016000" y="2961005"/>
            <a:ext cx="4267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维护一个 </a:t>
            </a:r>
            <a:r>
              <a:rPr lang="en-US" altLang="zh-CN"/>
              <a:t>manifest/index</a:t>
            </a:r>
            <a:r>
              <a:rPr lang="zh-CN" altLang="en-US"/>
              <a:t>：</a:t>
            </a:r>
            <a:endParaRPr lang="en-US" altLang="zh-CN"/>
          </a:p>
          <a:p>
            <a:r>
              <a:rPr lang="en-US" altLang="zh-CN"/>
              <a:t>/data/userinfo_slice/2026-12-15-11.json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096000" y="1028700"/>
            <a:ext cx="6096000" cy="286131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{</a:t>
            </a:r>
            <a:endParaRPr lang="en-US" altLang="zh-CN"/>
          </a:p>
          <a:p>
            <a:r>
              <a:rPr lang="en-US" altLang="zh-CN"/>
              <a:t>  "logicalPath": "/data/userinfo/2026-12-15-11",</a:t>
            </a:r>
            <a:endParaRPr lang="en-US" altLang="zh-CN"/>
          </a:p>
          <a:p>
            <a:r>
              <a:rPr lang="en-US" altLang="zh-CN"/>
              <a:t>  "basePath": "/data/userinfo/2026-12-15-11",</a:t>
            </a:r>
            <a:endParaRPr lang="en-US" altLang="zh-CN"/>
          </a:p>
          <a:p>
            <a:r>
              <a:rPr lang="en-US" altLang="zh-CN"/>
              <a:t>  "slicePaths": [</a:t>
            </a:r>
            <a:endParaRPr lang="en-US" altLang="zh-CN"/>
          </a:p>
          <a:p>
            <a:r>
              <a:rPr lang="en-US" altLang="zh-CN"/>
              <a:t>    "/data/userinfo_slice/cn/2026-12-15-11",</a:t>
            </a:r>
            <a:endParaRPr lang="en-US" altLang="zh-CN"/>
          </a:p>
          <a:p>
            <a:r>
              <a:rPr lang="en-US" altLang="zh-CN"/>
              <a:t>    "/data/userinfo_slice/us/2026-12-15-11"</a:t>
            </a:r>
            <a:endParaRPr lang="en-US" altLang="zh-CN"/>
          </a:p>
          <a:p>
            <a:r>
              <a:rPr lang="en-US" altLang="zh-CN"/>
              <a:t>  ],</a:t>
            </a:r>
            <a:endParaRPr lang="en-US" altLang="zh-CN"/>
          </a:p>
          <a:p>
            <a:r>
              <a:rPr lang="en-US" altLang="zh-CN"/>
              <a:t>  "schemaVersion": 3,</a:t>
            </a:r>
            <a:endParaRPr lang="en-US" altLang="zh-CN"/>
          </a:p>
          <a:p>
            <a:r>
              <a:rPr lang="en-US" altLang="zh-CN"/>
              <a:t>  "complete": true</a:t>
            </a:r>
            <a:endParaRPr lang="en-US" altLang="zh-CN"/>
          </a:p>
          <a:p>
            <a:r>
              <a:rPr lang="en-US" altLang="zh-CN"/>
              <a:t>}</a:t>
            </a:r>
            <a:endParaRPr lang="zh-CN" altLang="en-US"/>
          </a:p>
        </p:txBody>
      </p:sp>
      <p:cxnSp>
        <p:nvCxnSpPr>
          <p:cNvPr id="9" name="直接连接符 8"/>
          <p:cNvCxnSpPr>
            <a:endCxn id="7" idx="1"/>
          </p:cNvCxnSpPr>
          <p:nvPr/>
        </p:nvCxnSpPr>
        <p:spPr>
          <a:xfrm flipV="1">
            <a:off x="5230495" y="2459355"/>
            <a:ext cx="865505" cy="8350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891540" y="4077335"/>
            <a:ext cx="483616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自定义 </a:t>
            </a:r>
            <a:r>
              <a:rPr lang="en-US"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DataSource:</a:t>
            </a:r>
            <a:r>
              <a:rPr lang="en-US" altLang="zh-CN" sz="1600">
                <a:solidFill>
                  <a:srgbClr val="1A1C1F"/>
                </a:solidFill>
                <a:latin typeface="-apple-system"/>
                <a:ea typeface="-apple-system"/>
                <a:sym typeface="+mn-ea"/>
              </a:rPr>
              <a:t>dc-merged-parquet</a:t>
            </a:r>
            <a:endParaRPr lang="en-US" altLang="zh-CN" sz="1600">
              <a:solidFill>
                <a:srgbClr val="1A1C1F"/>
              </a:solidFill>
              <a:latin typeface="-apple-system"/>
              <a:ea typeface="-apple-system"/>
              <a:sym typeface="+mn-ea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消费时，读取机制把一个逻辑路径展开成多个真实 </a:t>
            </a:r>
            <a:r>
              <a:rPr lang="en-US"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Parquet 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路径：</a:t>
            </a:r>
            <a:endParaRPr lang="zh-CN"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solidFill>
                <a:srgbClr val="1A1C1F"/>
              </a:solidFill>
              <a:latin typeface="-apple-system"/>
              <a:ea typeface="-apple-system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23635" y="625887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底层还是 </a:t>
            </a:r>
            <a:r>
              <a:rPr lang="en-US" altLang="zh-CN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Spark </a:t>
            </a:r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原生 </a:t>
            </a:r>
            <a:r>
              <a:rPr lang="en-US" altLang="zh-CN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Parquet </a:t>
            </a:r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扫描，</a:t>
            </a:r>
            <a:r>
              <a:rPr lang="en-US" altLang="zh-CN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predicate pushdown</a:t>
            </a:r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column pruning</a:t>
            </a:r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、并行读取</a:t>
            </a:r>
            <a:endParaRPr lang="zh-CN" altLang="en-US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0" y="4077335"/>
            <a:ext cx="6096000" cy="20300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val paths = Seq(</a:t>
            </a:r>
            <a:endParaRPr lang="en-US" altLang="zh-CN"/>
          </a:p>
          <a:p>
            <a:r>
              <a:rPr lang="en-US" altLang="zh-CN"/>
              <a:t>  "/data/userinfo/2026-12-15-11",</a:t>
            </a:r>
            <a:endParaRPr lang="en-US" altLang="zh-CN"/>
          </a:p>
          <a:p>
            <a:r>
              <a:rPr lang="en-US" altLang="zh-CN"/>
              <a:t>  "/data/userinfo_slice/cn/2026-12-15-11",</a:t>
            </a:r>
            <a:endParaRPr lang="en-US" altLang="zh-CN"/>
          </a:p>
          <a:p>
            <a:r>
              <a:rPr lang="en-US" altLang="zh-CN"/>
              <a:t>  "/data/userinfo_slice/us/2026-12-15-11"</a:t>
            </a:r>
            <a:endParaRPr lang="en-US" altLang="zh-CN"/>
          </a:p>
          <a:p>
            <a:r>
              <a:rPr lang="en-US" altLang="zh-CN"/>
              <a:t>)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spark.read.parquet(paths: _*)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91540" y="5273675"/>
            <a:ext cx="483552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调用方增加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:</a:t>
            </a:r>
            <a:endParaRPr lang="en-US" altLang="zh-CN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spark.read</a:t>
            </a:r>
            <a:endParaRPr lang="en-US" altLang="zh-CN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.format("dc-merged-parquet")</a:t>
            </a:r>
            <a:endParaRPr lang="en-US" altLang="zh-CN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.load("/data/userinfo/2026-12-15-11")</a:t>
            </a:r>
            <a:endParaRPr lang="en-US" altLang="zh-CN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14" name="直接连接符 13"/>
          <p:cNvCxnSpPr>
            <a:stCxn id="10" idx="3"/>
            <a:endCxn id="12" idx="1"/>
          </p:cNvCxnSpPr>
          <p:nvPr/>
        </p:nvCxnSpPr>
        <p:spPr>
          <a:xfrm>
            <a:off x="5727700" y="4615815"/>
            <a:ext cx="368300" cy="4768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03295" y="167075"/>
            <a:ext cx="10969200" cy="705600"/>
          </a:xfrm>
        </p:spPr>
        <p:txBody>
          <a:bodyPr>
            <a:normAutofit fontScale="90000"/>
          </a:bodyPr>
          <a:p>
            <a:r>
              <a:rPr lang="zh-CN" altLang="en-US"/>
              <a:t>方案</a:t>
            </a:r>
            <a:r>
              <a:rPr lang="en-US" altLang="zh-CN"/>
              <a:t>1</a:t>
            </a:r>
            <a:r>
              <a:rPr lang="zh-CN" altLang="en-US"/>
              <a:t>：通过</a:t>
            </a:r>
            <a:r>
              <a:rPr lang="en-US" altLang="zh-CN"/>
              <a:t>SparkSessionExtension</a:t>
            </a:r>
            <a:r>
              <a:rPr lang="zh-CN" altLang="en-US"/>
              <a:t>拦截后</a:t>
            </a:r>
            <a:r>
              <a:rPr lang="zh-CN" altLang="en-US"/>
              <a:t>改写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97205" y="1313815"/>
            <a:ext cx="8957945" cy="30289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SparkSessionExtensions </a:t>
            </a:r>
            <a:r>
              <a:rPr lang="zh-CN" altLang="en-US" sz="1600" i="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注入规则，拦截某些路径读取，实现路径改写：</a:t>
            </a:r>
            <a:endParaRPr lang="zh-CN" altLang="en-US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205" y="2058670"/>
            <a:ext cx="5467350" cy="6451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1A1C1F"/>
                </a:solidFill>
                <a:latin typeface="-apple-system"/>
                <a:ea typeface="-apple-system"/>
                <a:sym typeface="+mn-ea"/>
              </a:rPr>
              <a:t>原调用方</a:t>
            </a:r>
            <a:r>
              <a:rPr lang="zh-CN" altLang="en-US">
                <a:solidFill>
                  <a:srgbClr val="1A1C1F"/>
                </a:solidFill>
                <a:latin typeface="-apple-system"/>
                <a:ea typeface="-apple-system"/>
                <a:sym typeface="+mn-ea"/>
              </a:rPr>
              <a:t>不变，逻辑上改写成多路径读取：</a:t>
            </a:r>
            <a:endParaRPr lang="en-US" altLang="zh-CN"/>
          </a:p>
          <a:p>
            <a:r>
              <a:rPr lang="en-US" altLang="zh-CN"/>
              <a:t>spark.read.parquet("/data/userinfo/2026-12-15-11")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03225" y="2849880"/>
            <a:ext cx="5560695" cy="3476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i="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这个方案更脆，强依赖 </a:t>
            </a:r>
            <a:r>
              <a:rPr lang="en-US" altLang="zh-CN" sz="1600" b="1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Spark </a:t>
            </a:r>
            <a:r>
              <a:rPr lang="zh-CN" altLang="en-US" sz="1600" b="1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内部 </a:t>
            </a:r>
            <a:r>
              <a:rPr lang="en-US" altLang="zh-CN" sz="1600" b="1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logical plan </a:t>
            </a:r>
            <a:r>
              <a:rPr lang="zh-CN" altLang="en-US" sz="1600" b="1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结构，版本升级风险更高</a:t>
            </a:r>
            <a:endParaRPr lang="zh-CN" altLang="en-US" sz="1600" b="1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LogicalPlan 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结构不是稳定业务接口</a:t>
            </a: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路径不是一个简单字符串了</a:t>
            </a: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、路径进入 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plan 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后，变成了 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file index、relation、schema、partition schema、options、catalog 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信息的一部分。不是简单替换</a:t>
            </a: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、透明改写时要保证这些 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option 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对所有展开路径仍然语义正确。尤其 </a:t>
            </a:r>
            <a:r>
              <a:rPr lang="en-US" altLang="zh-CN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basePath、partition discovery、schema merge、glob path、</a:t>
            </a:r>
            <a:r>
              <a:rPr lang="zh-CN" altLang="en-US" sz="1600">
                <a:solidFill>
                  <a:srgbClr val="1A1C1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递归读取都很容易出边界问题。</a:t>
            </a:r>
            <a:endParaRPr lang="zh-CN" altLang="en-US" sz="1600">
              <a:solidFill>
                <a:srgbClr val="1A1C1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1A1C1F"/>
              </a:solidFill>
              <a:latin typeface="-apple-system"/>
              <a:ea typeface="宋体" panose="02010600030101010101" pitchFamily="2" charset="-122"/>
              <a:sym typeface="+mn-ea"/>
            </a:endParaRPr>
          </a:p>
          <a:p>
            <a:pPr marL="0" indent="0">
              <a:lnSpc>
                <a:spcPts val="165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>
              <a:solidFill>
                <a:srgbClr val="1A1C1F"/>
              </a:solidFill>
              <a:latin typeface="-apple-system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200140" y="2058670"/>
            <a:ext cx="5859780" cy="230695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t">
            <a:spAutoFit/>
          </a:bodyPr>
          <a:p>
            <a:r>
              <a:rPr lang="en-US" altLang="zh-CN"/>
              <a:t>spark.read.parquet("/data/userinfo/2026-12-15-11")</a:t>
            </a:r>
            <a:endParaRPr lang="en-US" altLang="zh-CN"/>
          </a:p>
          <a:p>
            <a:r>
              <a:rPr lang="en-US" altLang="zh-CN"/>
              <a:t>        |</a:t>
            </a:r>
            <a:endParaRPr lang="en-US" altLang="zh-CN"/>
          </a:p>
          <a:p>
            <a:r>
              <a:rPr lang="en-US" altLang="zh-CN"/>
              <a:t>        v</a:t>
            </a:r>
            <a:endParaRPr lang="en-US" altLang="zh-CN"/>
          </a:p>
          <a:p>
            <a:r>
              <a:rPr lang="en-US" altLang="zh-CN"/>
              <a:t>LogicalRelation(</a:t>
            </a:r>
            <a:endParaRPr lang="en-US" altLang="zh-CN"/>
          </a:p>
          <a:p>
            <a:r>
              <a:rPr lang="en-US" altLang="zh-CN"/>
              <a:t>  HadoopFsRelation(</a:t>
            </a:r>
            <a:endParaRPr lang="en-US" altLang="zh-CN"/>
          </a:p>
          <a:p>
            <a:r>
              <a:rPr lang="en-US" altLang="zh-CN"/>
              <a:t>    location = InMemoryFileIndex(rootPaths = ...)</a:t>
            </a:r>
            <a:endParaRPr lang="en-US" altLang="zh-CN"/>
          </a:p>
          <a:p>
            <a:r>
              <a:rPr lang="en-US" altLang="zh-CN"/>
              <a:t>  )</a:t>
            </a:r>
            <a:endParaRPr lang="en-US" altLang="zh-CN"/>
          </a:p>
          <a:p>
            <a:r>
              <a:rPr lang="en-US" altLang="zh-CN"/>
              <a:t>)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1221085" cy="705485"/>
          </a:xfrm>
        </p:spPr>
        <p:txBody>
          <a:bodyPr>
            <a:normAutofit fontScale="90000"/>
          </a:bodyPr>
          <a:p>
            <a:r>
              <a:rPr lang="zh-CN" altLang="en-US"/>
              <a:t>方案</a:t>
            </a:r>
            <a:r>
              <a:rPr lang="en-US" altLang="zh-CN"/>
              <a:t>3</a:t>
            </a:r>
            <a:r>
              <a:rPr lang="zh-CN" altLang="en-US"/>
              <a:t>：采用数据湖，多源快照隔离写入，单一表</a:t>
            </a:r>
            <a:r>
              <a:rPr lang="zh-CN" altLang="en-US"/>
              <a:t>路径读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18185" y="151034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采用数据湖管理多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物理文件位置</a:t>
            </a:r>
            <a:endParaRPr lang="zh-CN"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  <a:p>
            <a:pPr marL="0" indent="0"/>
            <a:endParaRPr lang="zh-CN"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9790" y="5026660"/>
            <a:ext cx="9352280" cy="583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优点：方案简单，通过</a:t>
            </a:r>
            <a:r>
              <a:rPr lang="en-US"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Iceberg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快照隔离机制，实现多插件写入，同表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读取。</a:t>
            </a:r>
            <a:endParaRPr lang="zh-CN"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  <a:p>
            <a:pPr marL="0" indent="0"/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缺点：需要修改</a:t>
            </a:r>
            <a:r>
              <a:rPr lang="en-US"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L1/L2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生成逻辑，上层读取逻辑，</a:t>
            </a:r>
            <a:r>
              <a:rPr lang="en-US" altLang="zh-CN" sz="1600" i="0">
                <a:solidFill>
                  <a:srgbClr val="1A1C1F"/>
                </a:solidFill>
                <a:latin typeface="-apple-system"/>
                <a:ea typeface="-apple-system"/>
              </a:rPr>
              <a:t>27B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落地风险</a:t>
            </a:r>
            <a:r>
              <a:rPr lang="zh-CN" altLang="en-US" sz="1600" i="0">
                <a:solidFill>
                  <a:srgbClr val="1A1C1F"/>
                </a:solidFill>
                <a:latin typeface="-apple-system"/>
                <a:ea typeface="-apple-system"/>
              </a:rPr>
              <a:t>较大。</a:t>
            </a:r>
            <a:endParaRPr lang="zh-CN" altLang="en-US" sz="1600" i="0">
              <a:solidFill>
                <a:srgbClr val="1A1C1F"/>
              </a:solidFill>
              <a:latin typeface="-apple-system"/>
              <a:ea typeface="-apple-system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7595" y="28765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spark.table("dwd.userinfo_hourly")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1561</Words>
  <Application>WPS 演示</Application>
  <PresentationFormat>宽屏</PresentationFormat>
  <Paragraphs>79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-apple-system</vt:lpstr>
      <vt:lpstr>Segoe Print</vt:lpstr>
      <vt:lpstr>仿宋</vt:lpstr>
      <vt:lpstr>华文中宋</vt:lpstr>
      <vt:lpstr>华文新魏</vt:lpstr>
      <vt:lpstr>幼圆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王晓鹏</cp:lastModifiedBy>
  <cp:revision>158</cp:revision>
  <dcterms:created xsi:type="dcterms:W3CDTF">2019-06-19T02:08:00Z</dcterms:created>
  <dcterms:modified xsi:type="dcterms:W3CDTF">2026-06-08T10:14:20Z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75E8F15B9CE643A59520CA612550D654_11</vt:lpwstr>
  </property>
</Properties>
</file>